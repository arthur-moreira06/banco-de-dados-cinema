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2d604c35b46be" /><Relationship Type="http://schemas.openxmlformats.org/officeDocument/2006/relationships/extended-properties" Target="/docProps/app.xml" Id="Rf428cd2476d748e6" /><Relationship Type="http://schemas.openxmlformats.org/officeDocument/2006/relationships/officeDocument" Target="/ppt/presentation.xml" Id="R5c8680e13f8046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a148db36744b29"/>
  </p:sldMasterIdLst>
  <p:notesMasterIdLst>
    <p:notesMasterId xmlns:r="http://schemas.openxmlformats.org/officeDocument/2006/relationships" r:id="Rdff448d7d2ee4a2f"/>
  </p:notesMasterIdLst>
  <p:sldIdLst>
    <p:sldId xmlns:r="http://schemas.openxmlformats.org/officeDocument/2006/relationships" id="256" r:id="R10580d054f8b4992"/>
    <p:sldId xmlns:r="http://schemas.openxmlformats.org/officeDocument/2006/relationships" id="257" r:id="R29d434107a854b9c"/>
    <p:sldId xmlns:r="http://schemas.openxmlformats.org/officeDocument/2006/relationships" id="258" r:id="Rd97d19795d224951"/>
    <p:sldId xmlns:r="http://schemas.openxmlformats.org/officeDocument/2006/relationships" id="259" r:id="Rcc6f24d513974004"/>
    <p:sldId xmlns:r="http://schemas.openxmlformats.org/officeDocument/2006/relationships" id="260" r:id="R84444c90f50a4947"/>
    <p:sldId xmlns:r="http://schemas.openxmlformats.org/officeDocument/2006/relationships" id="261" r:id="R7d5f5294456c4dc0"/>
    <p:sldId xmlns:r="http://schemas.openxmlformats.org/officeDocument/2006/relationships" id="262" r:id="R9faf74693d9540c0"/>
    <p:sldId xmlns:r="http://schemas.openxmlformats.org/officeDocument/2006/relationships" id="263" r:id="R52a6504b4fff492d"/>
    <p:sldId xmlns:r="http://schemas.openxmlformats.org/officeDocument/2006/relationships" id="264" r:id="Rb973e8c8a6214add"/>
    <p:sldId xmlns:r="http://schemas.openxmlformats.org/officeDocument/2006/relationships" id="265" r:id="Re32af61c46f346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86ddf8f2c4a65" /><Relationship Type="http://schemas.openxmlformats.org/officeDocument/2006/relationships/slideMaster" Target="/ppt/slideMasters/slideMaster1.xml" Id="R7aa148db36744b29" /><Relationship Type="http://schemas.openxmlformats.org/officeDocument/2006/relationships/notesMaster" Target="/ppt/notesMasters/notesMaster1.xml" Id="Rdff448d7d2ee4a2f" /><Relationship Type="http://schemas.openxmlformats.org/officeDocument/2006/relationships/presProps" Target="/ppt/presProps.xml" Id="Rfd265cac854a460f" /><Relationship Type="http://schemas.openxmlformats.org/officeDocument/2006/relationships/tableStyles" Target="/ppt/tableStyles.xml" Id="R32df8b76d4084802" /><Relationship Type="http://schemas.openxmlformats.org/officeDocument/2006/relationships/slide" Target="/ppt/slides/slide1.xml" Id="R10580d054f8b4992" /><Relationship Type="http://schemas.openxmlformats.org/officeDocument/2006/relationships/slide" Target="/ppt/slides/slide2.xml" Id="R29d434107a854b9c" /><Relationship Type="http://schemas.openxmlformats.org/officeDocument/2006/relationships/slide" Target="/ppt/slides/slide3.xml" Id="Rd97d19795d224951" /><Relationship Type="http://schemas.openxmlformats.org/officeDocument/2006/relationships/slide" Target="/ppt/slides/slide4.xml" Id="Rcc6f24d513974004" /><Relationship Type="http://schemas.openxmlformats.org/officeDocument/2006/relationships/slide" Target="/ppt/slides/slide5.xml" Id="R84444c90f50a4947" /><Relationship Type="http://schemas.openxmlformats.org/officeDocument/2006/relationships/slide" Target="/ppt/slides/slide6.xml" Id="R7d5f5294456c4dc0" /><Relationship Type="http://schemas.openxmlformats.org/officeDocument/2006/relationships/slide" Target="/ppt/slides/slide7.xml" Id="R9faf74693d9540c0" /><Relationship Type="http://schemas.openxmlformats.org/officeDocument/2006/relationships/slide" Target="/ppt/slides/slide8.xml" Id="R52a6504b4fff492d" /><Relationship Type="http://schemas.openxmlformats.org/officeDocument/2006/relationships/slide" Target="/ppt/slides/slide9.xml" Id="Rb973e8c8a6214add" /><Relationship Type="http://schemas.openxmlformats.org/officeDocument/2006/relationships/slide" Target="/ppt/slides/slide10.xml" Id="Re32af61c46f346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d4d35ceb584e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4048eaed0946ae" /><Relationship Type="http://schemas.openxmlformats.org/officeDocument/2006/relationships/notesMaster" Target="/ppt/notesMasters/notesMaster1.xml" Id="R162a73938467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a05f40fbd48a2" /><Relationship Type="http://schemas.openxmlformats.org/officeDocument/2006/relationships/notesMaster" Target="/ppt/notesMasters/notesMaster1.xml" Id="R74239e21ad37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599fdc9a5433a" /><Relationship Type="http://schemas.openxmlformats.org/officeDocument/2006/relationships/notesMaster" Target="/ppt/notesMasters/notesMaster1.xml" Id="Rdf8e12be6dc24b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2c995fccbc4546" /><Relationship Type="http://schemas.openxmlformats.org/officeDocument/2006/relationships/notesMaster" Target="/ppt/notesMasters/notesMaster1.xml" Id="R7634431f3159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de8810ce94296" /><Relationship Type="http://schemas.openxmlformats.org/officeDocument/2006/relationships/notesMaster" Target="/ppt/notesMasters/notesMaster1.xml" Id="Rb8e9a59612bb4b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a7d73bc6c04b40" /><Relationship Type="http://schemas.openxmlformats.org/officeDocument/2006/relationships/notesMaster" Target="/ppt/notesMasters/notesMaster1.xml" Id="R9519ced2fb8f4d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1031d64234518" /><Relationship Type="http://schemas.openxmlformats.org/officeDocument/2006/relationships/notesMaster" Target="/ppt/notesMasters/notesMaster1.xml" Id="Rb9e33de87e124a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3d7c835f0f4c7d" /><Relationship Type="http://schemas.openxmlformats.org/officeDocument/2006/relationships/notesMaster" Target="/ppt/notesMasters/notesMaster1.xml" Id="Rde1a9af48e9a4c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3c8a5eabbf456b" /><Relationship Type="http://schemas.openxmlformats.org/officeDocument/2006/relationships/notesMaster" Target="/ppt/notesMasters/notesMaster1.xml" Id="Ref759163f52d40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8265c698aa4294" /><Relationship Type="http://schemas.openxmlformats.org/officeDocument/2006/relationships/notesMaster" Target="/ppt/notesMasters/notesMaster1.xml" Id="R54793fa69a5d4b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(30 s). Apresentar a equipe e o objetivo: mostrar como o modelo de dados sustenta as operações reais do cinema. A avaliação pede demonstração ao vivo em 15 minutos. Fonte: Projeto_Final_Laboratorio_de_Banco_de_Dados_2026-2.pdf, itens B8 e 6.2.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 (1 min 30 s). Explicar a visão geral e destacar relações: Sala possui Assentos; Sessão associa Filme e Sala; Ingresso ocupa Assento em Sessão; Venda agrupa itens, pagamentos e fidelidade. Fonte: sql/01_ddl.sql e relatório A1/A4 da Etapa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Falar (1 min 30 s). Explicar que a revisão precisa manter A1-A5 rastreáveis ao sistema atual. A versão física removeu data de estreia e URL de capa; as capas são genéricas na interface. Os PDFs antigos de MER e lógico encontrados no repositório ainda precisam ser substituídos antes da entrega. Fonte: sql/01_ddl.sql, README.md e docs/MER cinema.pdf / modelo lógico relacional cinema.pdf.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CRUD e consultas (1 min 30 s). Aqui a fala deve ser curta; a equipe vai abrir a aplicação no bloco de demonstração. Mostrar os seis cadastros, venda e duas consultas com filtros. A inspeção documental encontrou a consulta à vw_relatorio_sessao sem a criação da view no SQL fornecido. Corrigir antes de demonstrar esse relatório. Fonte: controllers, repositories, templates e sql/01_ddl.sql.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Restrições em ação (2 min no roteiro do professor). Mostrar uma tentativa inválida pela interface e a mensagem compreensível. Pode ser documento de meia-entrada inválido, CPF duplicado ou assento já vendido. Fonte: sql/01_ddl.sql e VendaAplicacaoService.java.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Acesso e segurança (1 min). Explicar que dados de filtro são vinculados por parâmetros. Para provar a resistência, executar a entrada de teste em campo textual e registrar o resultado real. Não mostrar nem incluir senha de banco na captura. Fonte: CadastroRepository.java, ConsultaWebRepository.java, PasswordHasher.java, application.properties e .gitignore.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Transação (3 min no roteiro). Demonstrar uma venda que termina com sucesso. Para a segunda, provocar uma falha entre escritas e consultar estoque/venda/pagamento depois do rollback. Código usa @Transactional e SELECT ... FOR UPDATE; o relatório do experimento precisa ser preenchido com o resultado observado. Fonte: VendaAplicacaoService.java e application.properties.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Desempenho e acesso (parte dos 3 min do professor). Executar com duas conexões abertas, observar o comportamento e consultar @@transaction_isolation. Para B4, ter três consultas com EXPLAIN antes/depois, tempos e volume. Nenhum resultado pode ser presumido. Fonte: sql/01_ddl.sql, sql/03_consultas.sql e Projeto_Final..., B3-B4.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da parte técnica (1 min). O relatório apresenta checklist item por item. A equipe deve conferir se algum requisito já foi concluído após a versão dos arquivos consultados e atualizar o status com evidência. Fonte: análise estática de README, SQL e Java em 20/10/2026; Anexo C do PDF do professor.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(30 s). Repetir as condições de preparação. Esse roteiro segue a divisão esperada: contexto 2, CRUD/consultas 4, transação 3, restrições 2, desempenho/acesso 3 e arguição 1 minuto. Fontes: Projeto_Final..., seção 6.2; relatório consolidado.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8f1de0bef4b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f0dd7e27942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e2c82490843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a904a7ef94b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f222d90e741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7614980f1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81DA4-1CEB-4953-9F0A-9EC8ACB96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7EB625-5A0A-4EDE-B2BE-507DE54A5D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09E7D7-8D3A-43F2-BB3C-C7CD81CB7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07117D-2AAB-430D-9C93-BB6F462E3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07B7F3-6C41-4944-96BE-1E345091B2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834350-80B9-4BAE-AF4F-278DBAE6F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613C05-1F2B-4BD4-9EAC-448F5E93E5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FDC95B-0409-4F96-BC95-C604BD4CB1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AE95EF-4192-4713-A385-29E8A71943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06FA50-DA55-466D-8D5F-466F0B7BDF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15da3cbd0f4281" /><Relationship Type="http://schemas.openxmlformats.org/officeDocument/2006/relationships/slideLayout" Target="/ppt/slideLayouts/slideLayout1.xml" Id="Rb190966d7ff3461d" /><Relationship Type="http://schemas.openxmlformats.org/officeDocument/2006/relationships/slideLayout" Target="/ppt/slideLayouts/slideLayout2.xml" Id="R9debe6512af2428d" /><Relationship Type="http://schemas.openxmlformats.org/officeDocument/2006/relationships/slideLayout" Target="/ppt/slideLayouts/slideLayout3.xml" Id="R07d093c096154a95" /><Relationship Type="http://schemas.openxmlformats.org/officeDocument/2006/relationships/slideLayout" Target="/ppt/slideLayouts/slideLayout4.xml" Id="R9dba96a576c746d8" /><Relationship Type="http://schemas.openxmlformats.org/officeDocument/2006/relationships/slideLayout" Target="/ppt/slideLayouts/slideLayout5.xml" Id="R587b9994b74349e4" /><Relationship Type="http://schemas.openxmlformats.org/officeDocument/2006/relationships/slideLayout" Target="/ppt/slideLayouts/slideLayout6.xml" Id="R60ce9b05ee6a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90966d7ff3461d"/>
    <p:sldLayoutId xmlns:r="http://schemas.openxmlformats.org/officeDocument/2006/relationships" id="2147483650" r:id="R9debe6512af2428d"/>
    <p:sldLayoutId xmlns:r="http://schemas.openxmlformats.org/officeDocument/2006/relationships" id="2147483651" r:id="R07d093c096154a95"/>
    <p:sldLayoutId xmlns:r="http://schemas.openxmlformats.org/officeDocument/2006/relationships" id="2147483652" r:id="R9dba96a576c746d8"/>
    <p:sldLayoutId xmlns:r="http://schemas.openxmlformats.org/officeDocument/2006/relationships" id="2147483653" r:id="R587b9994b74349e4"/>
    <p:sldLayoutId xmlns:r="http://schemas.openxmlformats.org/officeDocument/2006/relationships" id="2147483654" r:id="R60ce9b05ee6a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7597d414940b7" /><Relationship Type="http://schemas.openxmlformats.org/officeDocument/2006/relationships/notesSlide" Target="/ppt/notesSlides/notesSlide1.xml" Id="Rd9a79c22c1e1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c289f44f94aff" /><Relationship Type="http://schemas.openxmlformats.org/officeDocument/2006/relationships/notesSlide" Target="/ppt/notesSlides/notesSlide2.xml" Id="R16ca37946bb14b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53f0ca8c84cc8" /><Relationship Type="http://schemas.openxmlformats.org/officeDocument/2006/relationships/notesSlide" Target="/ppt/notesSlides/notesSlide3.xml" Id="Rd46c5684d7714c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939e7b0e64fd4" /><Relationship Type="http://schemas.openxmlformats.org/officeDocument/2006/relationships/notesSlide" Target="/ppt/notesSlides/notesSlide4.xml" Id="Rffd15d2052ce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f828f1dea4380" /><Relationship Type="http://schemas.openxmlformats.org/officeDocument/2006/relationships/notesSlide" Target="/ppt/notesSlides/notesSlide5.xml" Id="R9aa88199efb143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e86a61fb3462b" /><Relationship Type="http://schemas.openxmlformats.org/officeDocument/2006/relationships/notesSlide" Target="/ppt/notesSlides/notesSlide6.xml" Id="R7ae24576caee4e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3c1751f504e9f" /><Relationship Type="http://schemas.openxmlformats.org/officeDocument/2006/relationships/notesSlide" Target="/ppt/notesSlides/notesSlide7.xml" Id="R0e193681b07041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8bc4542ef448d" /><Relationship Type="http://schemas.openxmlformats.org/officeDocument/2006/relationships/notesSlide" Target="/ppt/notesSlides/notesSlide8.xml" Id="Rf46feceb9ea0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50ac5201e4719" /><Relationship Type="http://schemas.openxmlformats.org/officeDocument/2006/relationships/notesSlide" Target="/ppt/notesSlides/notesSlide9.xml" Id="R0c1d1e201c964b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510eaf3a34a5f" /><Relationship Type="http://schemas.openxmlformats.org/officeDocument/2006/relationships/notesSlide" Target="/ppt/notesSlides/notesSlide10.xml" Id="Rf47f62bbe5df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68F4-3C90-4FD5-BE44-2C7A503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5DBF7-E0EE-4710-9A31-CFF3372A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0"/>
            <a:ext cx="472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2162B-6302-45BA-BA2E-2EF8F1C5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859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18E9-70F0-4FEE-B6D4-9F7972E9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PROJETO FINAL · BANCO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F6645-E0A5-4BDC-9412-89A64DB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4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Cinema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ED080-167E-49BE-8112-972FF2D1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Etapa 1 revisada + Etapa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D27CE-381C-442D-9549-7A2C915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Aplicação, integridade e operação do banco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9FB0-FB41-40D3-8281-AF472657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UCB · Laboratório de Banco de Dados · 2026/2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15A4B-386D-43D2-AC46-87B5DE8D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15 MINUTOS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5996E-AC35-4F03-9572-26A51DDC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Demonstração ao vivo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FF03D-4041-4C1D-86F6-2FE9BD15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2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20/10/2026</a:t>
            </a:r>
          </a:p>
        </p:txBody>
      </p:sp>
    </p:spTree>
    <p:extLst>
      <p:ext uri="{BB962C8B-B14F-4D97-AF65-F5344CB8AC3E}">
        <p14:creationId xmlns:p14="http://schemas.microsoft.com/office/powerpoint/2010/main" val="168503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970FD-D59B-4112-A8CB-1243DE93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2A228-99B1-42E1-AD09-3D054E7E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01 · 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7FBF4-EA66-41B3-9D1B-4E5C1A75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O que o banco representa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CF03-5FB0-412E-8E1B-C0D27445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8903E-AB4C-48F7-BC60-92D0CE01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DFFFF-51B2-47B0-9514-23D95E71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A5875-7F43-4354-8D10-C8B2A084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19 tabelas organizadas em quatro áreas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997F4-DB84-4EDC-9128-A473180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FBD2B-F4DB-4B9A-B654-2E45039B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Filme · Sessão · Preço histórico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Sala · Assento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89143-BF72-4490-8623-633E305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PESSOAS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4E212-ACF2-4046-BD0B-B5AC30E9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Cliente · Documento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Funcionário e especializações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40804-BB13-4903-AF9D-DBAD5C5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14E97-F5D1-4468-A69A-D108D36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Ingresso · Status histórico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Produto · Venda · Pagamento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13478-9E92-4092-A4A6-E35905C5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RELACIONAMENTOS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8207E-847F-4667-8B12-CAE56104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Itens da venda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Fidelidade · Regras de integridade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586FA-5D12-4B07-A8F0-DC91F58E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Regras de negócio ligam o domínio às chaves, restrições, validações e transações.</a:t>
            </a:r>
          </a:p>
        </p:txBody>
      </p:sp>
    </p:spTree>
    <p:extLst>
      <p:ext uri="{BB962C8B-B14F-4D97-AF65-F5344CB8AC3E}">
        <p14:creationId xmlns:p14="http://schemas.microsoft.com/office/powerpoint/2010/main" val="1165253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8890AA-0C09-4A62-AF1B-BDDF605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7BD5D-6C87-4FF9-BDB2-6031A64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02 · REVISÃO DA ETAPA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118D6-D6E1-4E5E-A444-BA1285EC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Modelo atualizado para o sistema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F8687-412F-4917-9550-E8394BB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8A464-0357-4039-8AF3-525B50A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433E1-8BB6-471E-B17F-3FC2B7E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EA79F-3EDE-4556-AD4E-D84F1124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8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Decisões que aparecem na versão vigente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77FBA-2F98-4605-ABB8-BE4EE0AD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8B6B1-F13E-48EF-B49B-2C56857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024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19 tabelas; entidades comerciais e históricas fazem parte do modelo.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5D67D-7AD5-41E6-B894-EE5AB5D6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1BB9A-058A-4C69-821D-688E97B8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024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Funcionário se especializa em Atendente, Gerente e Projecionista.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9E820-1385-48F9-9FCF-1640447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114AF-4C31-4BF9-9F97-F9E164D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024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Preço e status preservam histórico em tabelas próprias.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F04E6-C8AB-47FE-AC53-CAC53E16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4B556-598C-4399-8D91-E56365C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1024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Filme não guarda data de estreia nem URL de capa; interface usa capa genérica.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9E102-067B-41C6-A0C4-82A60E5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7C258-3CB8-4236-AADA-30E617B3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387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36A"/>
                </a:solidFill>
                <a:latin typeface="Arial"/>
                <a:ea typeface="Arial"/>
                <a:cs typeface="Arial"/>
              </a:rPr>
              <a:t>Ação documental: regenerar MER e modelo lógico antigos para refletirem o DDL.</a:t>
            </a:r>
          </a:p>
        </p:txBody>
      </p:sp>
    </p:spTree>
    <p:extLst>
      <p:ext uri="{BB962C8B-B14F-4D97-AF65-F5344CB8AC3E}">
        <p14:creationId xmlns:p14="http://schemas.microsoft.com/office/powerpoint/2010/main" val="1198355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976CF-DF97-4DAE-B101-775C5782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573AB-78C4-49C4-8068-A791CF7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03 · APLICAÇÃO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158B2-AC97-40FB-BF73-59913A2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A interface exercita o esquema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98B3B-92F7-4ABC-930C-06CD664A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4F390-93A4-4500-A9A1-1D7261C6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0006F-C743-4B02-A4D4-F0C56E32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26677-064B-4F45-919D-D525035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Cadastros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5D187-A6DC-44E7-9828-D31E043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00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Clientes · Funcionários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Filmes · Salas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Produtos · Sessões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B9845-B706-4BA0-A251-D50F8562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41F11-AD8B-4F17-9CAC-49033C90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7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Operação e consultas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9E2D2-3958-47A8-BBCD-9C491515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Venda de ingressos com sessão e assento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Venda de bomboniere com estoque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Ingressos por período/filme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Produtos por período/categoria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72443-FCBB-4C82-8351-02869D5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D36A"/>
                </a:solidFill>
                <a:latin typeface="Arial"/>
                <a:ea typeface="Arial"/>
                <a:cs typeface="Arial"/>
              </a:rPr>
              <a:t>O relatório de ocupação depende de vw_relatorio_sessao; confirme a criação da view antes da demo.</a:t>
            </a:r>
          </a:p>
        </p:txBody>
      </p:sp>
    </p:spTree>
    <p:extLst>
      <p:ext uri="{BB962C8B-B14F-4D97-AF65-F5344CB8AC3E}">
        <p14:creationId xmlns:p14="http://schemas.microsoft.com/office/powerpoint/2010/main" val="1627761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6A352-8D13-468F-9E2B-D0986528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28695-FFB4-422B-9577-CC3CBFA7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04 · INTEGRIDADE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A8E2F-BFE5-4C4D-91D2-89E39C1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O banco aplica regras do domínio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DD070-A548-4EC8-B121-A0DC319F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814A6-B923-43BC-B742-2496081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E0145-C87B-4AD8-AEA8-7DBB343E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6E6E8-DB32-4500-AD24-C51B7679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UNICIDADE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3B7EE-A56C-46E2-A334-B01B236F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6217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CPF/e-mail do cliente; assento por sala; sessão por sala e horário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87AE2-315E-4FCA-B10A-9D1E7A65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3B574-7E0B-4F85-B415-DE81AB2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DOMÍNIOS E VALORES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91CD7-DECB-4A10-B1FE-B971060B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037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CHECKs para capacidade, preço, quantidade e valores positivos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87482-1298-467C-8D62-57D50783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5AEE9-20A5-4689-8E8E-3952333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REGRAS TEMPORAIS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DD47F-4F1E-423E-B20A-11B684E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3857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Conflito de sessão, preço vigente, status e cancelamento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CA024-1745-41D5-8DCE-AD84FC42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11EB2-751E-425B-97B1-2B681C0C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125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MEIA-ENTRADA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0B64B-EB96-436C-88A6-F4B4005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76775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Documento associado ao cliente; tipo, validade e critério de elegibilidade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A3B4F-CF99-4307-8427-22AC1BE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AADB7-095B-426C-9D03-FCAFBB20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425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D6A0"/>
                </a:solidFill>
                <a:latin typeface="Arial"/>
                <a:ea typeface="Arial"/>
                <a:cs typeface="Arial"/>
              </a:rPr>
              <a:t>A venda valida documento e assento antes de gravar a operação.</a:t>
            </a:r>
          </a:p>
        </p:txBody>
      </p:sp>
    </p:spTree>
    <p:extLst>
      <p:ext uri="{BB962C8B-B14F-4D97-AF65-F5344CB8AC3E}">
        <p14:creationId xmlns:p14="http://schemas.microsoft.com/office/powerpoint/2010/main" val="877514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8670C-8696-432A-9F21-E294FA1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FF907-8610-4804-BC40-D4AD69A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05 · ACESSO A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2762D-E53A-425E-931B-187FA86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Parâmetros protegem entradas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DFABD-F01A-4D14-96AE-0EAC6453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DE5EF-704C-4B71-8EB1-58AE93C9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15218-6714-4C83-BEC8-717FF1DB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EBFF0-F1D1-47F4-B7F6-3AC05D0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Valor recebido da tela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6A3EA-E3AF-4653-9B94-D690FDFB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3A74A-3BD9-44CA-8E83-EA95675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JdbcTemplate +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DCA39-3129-4119-AD14-A0780A1B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31350-95E6-40C4-82A0-759C6698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4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MySQL executa o valor como dado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DA2FB-A18A-4498-8611-31236DA2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0C9DB-D8CF-42B7-9599-2E508950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B043E-1987-46F0-950E-195F8AEB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015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Senhas de funcionário: PBKDF2-HMAC-SHA256 com sal aleatório.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B0E32-09A9-491F-BD39-9E10A2F4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F1B79-3EF0-4DAE-A190-5EEF246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1015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Credenciais do banco vêm de ambiente/.env local ignorado pelo Git.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968CD-BECB-4F0E-B592-9ED5D69A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393DA-0F61-4B13-BAEC-BA7AAE21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1015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CPF, telefone, e-mail, nascimento, login e hash são dados pessoais.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42D7C-A111-4E5A-BB4C-C076A74A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D36A"/>
                </a:solidFill>
                <a:latin typeface="Arial"/>
                <a:ea typeface="Arial"/>
                <a:cs typeface="Arial"/>
              </a:rPr>
              <a:t>Ainda registrar a tentativa real de SQL injection e o resultado observado.</a:t>
            </a:r>
          </a:p>
        </p:txBody>
      </p:sp>
    </p:spTree>
    <p:extLst>
      <p:ext uri="{BB962C8B-B14F-4D97-AF65-F5344CB8AC3E}">
        <p14:creationId xmlns:p14="http://schemas.microsoft.com/office/powerpoint/2010/main" val="1518028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949C3-527A-404C-A6BB-043B49E4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C8F83-C28B-4FC7-A961-66F511D4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06 · TRANSAÇÕES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7DD32-761B-4823-94A0-6D9CA02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A venda precisa ser atômica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1A5F2-2E2A-4B5B-82E2-061A924C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C36C3-46CE-41D8-A8EE-3E67065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561AA-8003-477C-B8BC-AF1385F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D4086-528D-4F2C-B03F-D5684F50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92ADD-F6BC-45C2-932D-6AA5825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76CB0-2588-4291-BFBA-AD195B24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400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Bloqueia linha crítica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FOR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91D3B-A7A8-4BCB-9A00-201E551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DDF00-A156-4132-AE75-D4236163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943BA-F2BD-4A32-81CF-F044099D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146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69B23-12F0-40E2-800E-61FFDA1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2400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Valida estoque, assento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e documento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8CDEC-D92D-4692-96C3-903A2E5B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48C1B-B632-4AF5-8A43-681D9D5A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7CE3E-3554-4931-A529-FA1AF51B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5CF01-F135-450C-86C3-D48893E5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2400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Grava venda, itens,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pagamento e pontos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A0472-E3D2-4831-BA2E-4670A276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6DE97-B5BE-4681-A179-F54BBA8A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F6C48-4D26-49A7-B160-5F04544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E247D-4B67-4C39-9505-A82FE16F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00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COMMIT ou ROLLBACK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na mesma operação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3DE6D-5843-45CE-B640-31AC4FCB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42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8D429-43F6-4392-81B3-5C7DA2A2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D36A"/>
                </a:solidFill>
                <a:latin typeface="Arial"/>
                <a:ea typeface="Arial"/>
                <a:cs typeface="Arial"/>
              </a:rPr>
              <a:t>Prova ao vivo: venda concluída; depois falha no meio; conferir que estoque e registros voltaram ao estado inicial.</a:t>
            </a:r>
          </a:p>
        </p:txBody>
      </p:sp>
    </p:spTree>
    <p:extLst>
      <p:ext uri="{BB962C8B-B14F-4D97-AF65-F5344CB8AC3E}">
        <p14:creationId xmlns:p14="http://schemas.microsoft.com/office/powerpoint/2010/main" val="739578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B2BA2-EB82-47E8-BE89-7685EBF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EB6DF-83A7-4C4A-BB8E-612C3C7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07 · EXPERIMENTO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3ECC6-C19A-4698-BD95-2EB55FFE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Concorrência e desempenho medidos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09B18-A4FF-44F0-9ED2-3C1357CB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951AD-5845-4215-AC03-706C608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7E595-2B5F-4084-BD04-1D09691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5DB74-275E-4D37-8168-A589C9A7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Duas sessões 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F17C8-E487-4DFA-BC5F-E721DEDA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476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A mantém FOR UPDATE aberto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B tenta vender o mesmo item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Registrar espera/bloqueio e isolamento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9C580-36E2-404E-850B-772658F9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C71D5-1799-47BC-B936-7EACAC89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Três consultas críticas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07B79-0448-42A9-8DD2-C8F1A6C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051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EXPLAIN antes → índice → EXPLAIN depois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Comparar plano, linhas e tempo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Informar volume real da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B15CF-EE01-4D32-8C45-23058F3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FD3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D36A"/>
                </a:solidFill>
                <a:latin typeface="Arial"/>
                <a:ea typeface="Arial"/>
                <a:cs typeface="Arial"/>
              </a:rPr>
              <a:t>Sem medição registrada no repositório: mostrar apenas depois de executar e anotar.</a:t>
            </a:r>
          </a:p>
        </p:txBody>
      </p:sp>
    </p:spTree>
    <p:extLst>
      <p:ext uri="{BB962C8B-B14F-4D97-AF65-F5344CB8AC3E}">
        <p14:creationId xmlns:p14="http://schemas.microsoft.com/office/powerpoint/2010/main" val="1008583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8D448-5FBC-44D7-826F-82B7017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8A1B8-C114-4E53-BE67-6E5AD50F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08 ·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64F2A-EFB9-482B-93F3-45242DB7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O que já tem evidência e o que falta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B6A4B-B9FF-4032-AEF4-371A13F6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8F762-2F44-428D-8459-88F2F16B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76156-4CD4-4020-9851-7949766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4967D-CFE5-4BCB-9E11-D47E4C9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73D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D6A0"/>
                </a:solidFill>
                <a:latin typeface="Arial"/>
                <a:ea typeface="Arial"/>
                <a:cs typeface="Arial"/>
              </a:rPr>
              <a:t>PRESENTE NO CÓDIGO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CFFEE-0541-4324-9EA1-CFAD319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AEEF0-70D1-4299-8D84-E59C622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CRUDs, consultas parametrizadas e transações no código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89243-2B27-4D91-8A53-26D54352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D6C94-25F8-48B3-9602-B0047F83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Hash PBKDF2 com sal e credenciais fora do 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E8626-58DD-4499-B850-8BFB537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D68EA-F133-4984-A02A-C759C33C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DDL com integridade, FKs, índices e gatilhos de validação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83564-CA17-487D-A8F8-E7CC6B5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952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D8EC8-988A-4181-806F-C9B32E6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FFD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36A"/>
                </a:solidFill>
                <a:latin typeface="Arial"/>
                <a:ea typeface="Arial"/>
                <a:cs typeface="Arial"/>
              </a:rPr>
              <a:t>PENDENTE DE AJUSTE OU PROVA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D159D-6EFA-491F-9EB6-493BA5C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A921E-BB8F-4305-8530-BDDA757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Corrigir view do relatório; revisar diagramas A2/A4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85F54-8FFF-4F32-B3CC-8828630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E9E74-D60B-4C98-8F6F-F13ACB73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Registrar rollback, concorrência e três 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B04CC-8C2B-4796-88AE-F02D54E5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E1BAC-5D1C-41F5-B8FB-DF27398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Criar três perfis SQL, visão restrita e auditoria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D04B4-8426-45A4-80DB-2289A3AC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C29B6-EB57-42EE-B17E-ABC0F64D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8"/>
                </a:solidFill>
                <a:latin typeface="Arial"/>
                <a:ea typeface="Arial"/>
                <a:cs typeface="Arial"/>
              </a:rPr>
              <a:t>Testar backup/restauração e instalação em máquina limpa</a:t>
            </a:r>
          </a:p>
        </p:txBody>
      </p:sp>
    </p:spTree>
    <p:extLst>
      <p:ext uri="{BB962C8B-B14F-4D97-AF65-F5344CB8AC3E}">
        <p14:creationId xmlns:p14="http://schemas.microsoft.com/office/powerpoint/2010/main" val="2246423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FD134-C17B-467D-94DD-DAF5819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05575-5D9B-4825-9BEB-AF912F62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0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09 · DEMONSTRAÇÃO AO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62653-173F-491A-B38F-D3E94E7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2850" b="1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4F0"/>
                </a:solidFill>
                <a:latin typeface="Arial"/>
                <a:ea typeface="Arial"/>
                <a:cs typeface="Arial"/>
              </a:rPr>
              <a:t>Roteiro dos 15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BA6E0-BB91-4243-AB0E-D6DBD13F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BDD15-E8E3-4D7C-9559-163CF0F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SISTEMA DE GESTÃO PARA REDE DE CINEMAS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2E9A-D09F-4681-A560-9B289F46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900" b="0">
                <a:solidFill>
                  <a:srgbClr val="A9B3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3C2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0CE94-34D3-4554-A495-E3CBC675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5D7BD-58FF-4A8B-8678-A9CD2B2C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Contexto, modelo e revisão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36C35-5D16-4AE6-9013-EDDD8CC0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9AAA1-DC62-4E63-BD76-93F898FE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A76E3-C381-4C26-83CB-6F861F4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Cadastro, consulta parametrizada e relatório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E0771-FFDD-42A5-9784-5BE92898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4C9DA-1BED-4E8E-B089-0365C3D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897CF-19A7-4970-82ED-8F6EF3FC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956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Venda com sucesso e falha com rollback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8FFE6-BCAB-4F6E-97FD-386EFED5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3A456-D9E3-4E62-AF50-DE2179B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C7AEC-921C-4045-B369-723DAD6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Restrição inválida e mensagem tratada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FB730-311B-4755-9589-C8A3F2C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8F94D-2DD1-42BF-A5A9-6EE359E5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26A92-4076-43CD-9AE8-CA5265E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EXPLAIN e perfis de acesso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2172B-C5AD-4402-9B47-86D6B34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56298-D049-4CDA-AF86-51BF9C67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650" b="1">
                <a:solidFill>
                  <a:srgbClr val="EA40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A4052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48727-5910-4D2D-93E3-171022C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244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F5F4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4F0"/>
                </a:solidFill>
                <a:latin typeface="Arial"/>
                <a:ea typeface="Arial"/>
                <a:cs typeface="Arial"/>
              </a:rPr>
              <a:t>Arguição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7C081-638E-4549-828C-ABB2E99A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AA593-2FA4-4380-A99B-91D415F4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0000"/>
              </a:lnSpc>
              <a:buNone/>
              <a:defRPr sz="1275" b="1">
                <a:solidFill>
                  <a:srgbClr val="D8DF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DFE8"/>
                </a:solidFill>
                <a:latin typeface="Arial"/>
                <a:ea typeface="Arial"/>
                <a:cs typeface="Arial"/>
              </a:rPr>
              <a:t>Antes da aula: banco carregado · aplicação rodando · duas sessões abertas · roteiro ensaiado por todos.</a:t>
            </a:r>
          </a:p>
        </p:txBody>
      </p:sp>
    </p:spTree>
    <p:extLst>
      <p:ext uri="{BB962C8B-B14F-4D97-AF65-F5344CB8AC3E}">
        <p14:creationId xmlns:p14="http://schemas.microsoft.com/office/powerpoint/2010/main" val="785879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2026-10-20T22:19:24.2510000Z</dcterms:created>
  <dcterms:modified xsi:type="dcterms:W3CDTF">2026-10-20T22:19:24.2510000Z</dcterms:modified>
</coreProperties>
</file>